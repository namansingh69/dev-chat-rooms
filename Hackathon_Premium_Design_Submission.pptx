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w_key_dark_bg_17722269254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743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7200" b="1">
                <a:solidFill>
                  <a:srgbClr val="FAFAFA"/>
                </a:solidFill>
                <a:latin typeface="Arial"/>
              </a:defRPr>
            </a:pPr>
            <a:r>
              <a:t>AI-Powered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8000" b="1">
                <a:solidFill>
                  <a:srgbClr val="22D3EE"/>
                </a:solidFill>
                <a:latin typeface="Arial"/>
              </a:defRPr>
            </a:pPr>
            <a:r>
              <a:t>DEV CHAT ROOMS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 b="0">
                <a:solidFill>
                  <a:srgbClr val="A0A5B4"/>
                </a:solidFill>
                <a:latin typeface="Arial"/>
              </a:defRPr>
            </a:pPr>
            <a:r>
              <a:t>Architecting Seamless Collaboration &amp; LowEntropyAI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w_key_dark_bg_17722269254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 b="1">
                <a:solidFill>
                  <a:srgbClr val="FAFAFA"/>
                </a:solidFill>
                <a:latin typeface="Arial"/>
              </a:defRPr>
            </a:pPr>
            <a:r>
              <a:t>The Problem &amp;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3200" b="1">
                <a:solidFill>
                  <a:srgbClr val="3B82F6"/>
                </a:solidFill>
                <a:latin typeface="Arial"/>
              </a:defRPr>
            </a:pPr>
            <a:r>
              <a:t>The Gap in Developer Collaboration: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1188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 b="0">
                <a:solidFill>
                  <a:srgbClr val="FAFAFA"/>
                </a:solidFill>
                <a:latin typeface="Arial"/>
              </a:defRPr>
            </a:pPr>
            <a:r>
              <a:t>Context switching between code editors, chat apps, and AI tabs breaks 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3200" b="1">
                <a:solidFill>
                  <a:srgbClr val="3B82F6"/>
                </a:solidFill>
                <a:latin typeface="Arial"/>
              </a:defRPr>
            </a:pPr>
            <a:r>
              <a:t>Our Value Proposition: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212080"/>
            <a:ext cx="1188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 b="0">
                <a:solidFill>
                  <a:srgbClr val="FAFAFA"/>
                </a:solidFill>
                <a:latin typeface="Arial"/>
              </a:defRPr>
            </a:pPr>
            <a:r>
              <a:t>A unified workspace where context is king. Developers collaborate in real-time rooms.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852160"/>
            <a:ext cx="1188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 b="0">
                <a:solidFill>
                  <a:srgbClr val="FAFAFA"/>
                </a:solidFill>
                <a:latin typeface="Arial"/>
              </a:defRPr>
            </a:pPr>
            <a:r>
              <a:t>LowEntropyAI sits intimately within the chat, reading exact context to solve bugs instantly.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w_key_dark_bg_17722269254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 b="1">
                <a:solidFill>
                  <a:srgbClr val="FAFAFA"/>
                </a:solidFill>
                <a:latin typeface="Arial"/>
              </a:defRPr>
            </a:pPr>
            <a:r>
              <a:t>System Architecture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0">
                <a:solidFill>
                  <a:srgbClr val="A0A5B4"/>
                </a:solidFill>
                <a:latin typeface="Arial"/>
              </a:defRPr>
            </a:pPr>
            <a:r>
              <a:t>Next.js Frontend connects via Socket.IO directly to the AI Core.</a:t>
            </a:r>
          </a:p>
        </p:txBody>
      </p:sp>
      <p:pic>
        <p:nvPicPr>
          <p:cNvPr id="5" name="Picture 4" descr="wide_workflow_diagram_17722272405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11680"/>
            <a:ext cx="12801600" cy="1280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w_key_dark_bg_17722269254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 b="1">
                <a:solidFill>
                  <a:srgbClr val="FAFAFA"/>
                </a:solidFill>
                <a:latin typeface="Arial"/>
              </a:defRPr>
            </a:pPr>
            <a:r>
              <a:t>UX Principle: Glassmorphism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3200" b="1">
                <a:solidFill>
                  <a:srgbClr val="3B82F6"/>
                </a:solidFill>
                <a:latin typeface="Arial"/>
              </a:defRPr>
            </a:pPr>
            <a:r>
              <a:t>Why Glassmorphism?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11887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 b="0">
                <a:solidFill>
                  <a:srgbClr val="FAFAFA"/>
                </a:solidFill>
                <a:latin typeface="Arial"/>
              </a:defRPr>
            </a:pPr>
            <a:r>
              <a:t>Creates depth without clutter. By using blurred, translucent backgrounds (backdrop-blur), </a:t>
            </a:r>
            <a:br/>
            <a:r>
              <a:t>users maintain spatial awareness without being distracted.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3200" b="1">
                <a:solidFill>
                  <a:srgbClr val="3B82F6"/>
                </a:solidFill>
                <a:latin typeface="Arial"/>
              </a:defRPr>
            </a:pPr>
            <a:r>
              <a:t>Dark Mode Defaults: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212080"/>
            <a:ext cx="1188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 b="0">
                <a:solidFill>
                  <a:srgbClr val="FAFAFA"/>
                </a:solidFill>
                <a:latin typeface="Arial"/>
              </a:defRPr>
            </a:pPr>
            <a:r>
              <a:t>Reduces eye strain for developers working long hours in low-light environments.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40080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3200" b="1">
                <a:solidFill>
                  <a:srgbClr val="3B82F6"/>
                </a:solidFill>
                <a:latin typeface="Arial"/>
              </a:defRPr>
            </a:pPr>
            <a:r>
              <a:t>High Contrast Actions: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7040880"/>
            <a:ext cx="1188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 b="0">
                <a:solidFill>
                  <a:srgbClr val="FAFAFA"/>
                </a:solidFill>
                <a:latin typeface="Arial"/>
              </a:defRPr>
            </a:pPr>
            <a:r>
              <a:t>Primary call-to-actions utilize strict #3b82f6 (Blue) ensuring AAA contrast ratings.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w_key_dark_bg_17722269254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 b="1">
                <a:solidFill>
                  <a:srgbClr val="FAFAFA"/>
                </a:solidFill>
                <a:latin typeface="Arial"/>
              </a:defRPr>
            </a:pPr>
            <a:r>
              <a:t>Frictionless Authentication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3600" b="1">
                <a:solidFill>
                  <a:srgbClr val="3B82F6"/>
                </a:solidFill>
                <a:latin typeface="Arial"/>
              </a:defRPr>
            </a:pPr>
            <a:r>
              <a:t>Modal-Driven Auth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 b="0">
                <a:solidFill>
                  <a:srgbClr val="FAFAFA"/>
                </a:solidFill>
                <a:latin typeface="Arial"/>
              </a:defRPr>
            </a:pPr>
            <a:r>
              <a:t>Captures Display Name &amp; API Key gracefully without heavy page redirects.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 b="0">
                <a:solidFill>
                  <a:srgbClr val="A0A5B4"/>
                </a:solidFill>
                <a:latin typeface="Arial"/>
              </a:defRPr>
            </a:pPr>
            <a:r>
              <a:t>Clear error boundaries and link to Google AI Studio for key generation.</a:t>
            </a:r>
          </a:p>
        </p:txBody>
      </p:sp>
      <p:pic>
        <p:nvPicPr>
          <p:cNvPr id="7" name="Picture 6" descr="click_feedback_17722135047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828800"/>
            <a:ext cx="627363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w_key_dark_bg_17722269254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 b="1">
                <a:solidFill>
                  <a:srgbClr val="FAFAFA"/>
                </a:solidFill>
                <a:latin typeface="Arial"/>
              </a:defRPr>
            </a:pPr>
            <a:r>
              <a:t>Core UI: The Collaboration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7432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3600" b="1">
                <a:solidFill>
                  <a:srgbClr val="3B82F6"/>
                </a:solidFill>
                <a:latin typeface="Arial"/>
              </a:defRPr>
            </a:pPr>
            <a:r>
              <a:t>Real-Time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365760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 b="0">
                <a:solidFill>
                  <a:srgbClr val="FAFAFA"/>
                </a:solidFill>
                <a:latin typeface="Arial"/>
              </a:defRPr>
            </a:pPr>
            <a:r>
              <a:t>Socket.IO chat interface featuring instantaneous broadcast to all clients.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502920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 b="0">
                <a:solidFill>
                  <a:srgbClr val="A0A5B4"/>
                </a:solidFill>
                <a:latin typeface="Arial"/>
              </a:defRPr>
            </a:pPr>
            <a:r>
              <a:t>Markdown rendering and syntax highlighting built directly into the UI.</a:t>
            </a:r>
          </a:p>
        </p:txBody>
      </p:sp>
      <p:pic>
        <p:nvPicPr>
          <p:cNvPr id="7" name="Picture 6" descr="click_feedback_17722135697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627363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w_key_dark_bg_17722269254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 b="1">
                <a:solidFill>
                  <a:srgbClr val="FAFAFA"/>
                </a:solidFill>
                <a:latin typeface="Arial"/>
              </a:defRPr>
            </a:pPr>
            <a:r>
              <a:t>Streamlined User Flow (A -&gt; B -&gt; 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3200" b="1">
                <a:solidFill>
                  <a:srgbClr val="3B82F6"/>
                </a:solidFill>
                <a:latin typeface="Arial"/>
              </a:defRPr>
            </a:pPr>
            <a:r>
              <a:t>[A] Secure 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1188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 b="0">
                <a:solidFill>
                  <a:srgbClr val="FAFAFA"/>
                </a:solidFill>
                <a:latin typeface="Arial"/>
              </a:defRPr>
            </a:pPr>
            <a:r>
              <a:t>User lands on app. Chat is visible but disabled. Click "Kindly Login" -&gt; Modal opens.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3200" b="1">
                <a:solidFill>
                  <a:srgbClr val="3B82F6"/>
                </a:solidFill>
                <a:latin typeface="Arial"/>
              </a:defRPr>
            </a:pPr>
            <a:r>
              <a:t>[B] Contextual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1188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 b="0">
                <a:solidFill>
                  <a:srgbClr val="FAFAFA"/>
                </a:solidFill>
                <a:latin typeface="Arial"/>
              </a:defRPr>
            </a:pPr>
            <a:r>
              <a:t>User selects 'Frontend Issues' room. Socket.IO emits join, fetches historical messages.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3200" b="1">
                <a:solidFill>
                  <a:srgbClr val="3B82F6"/>
                </a:solidFill>
                <a:latin typeface="Arial"/>
              </a:defRPr>
            </a:pPr>
            <a:r>
              <a:t>[C] AI Invocation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583680"/>
            <a:ext cx="1188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 b="0">
                <a:solidFill>
                  <a:srgbClr val="FAFAFA"/>
                </a:solidFill>
                <a:latin typeface="Arial"/>
              </a:defRPr>
            </a:pPr>
            <a:r>
              <a:t>User tags @LowEntropyAI. AI reads entire room context and streams markdown response.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w_key_dark_bg_17722269254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 b="1">
                <a:solidFill>
                  <a:srgbClr val="FAFAFA"/>
                </a:solidFill>
                <a:latin typeface="Arial"/>
              </a:defRPr>
            </a:pPr>
            <a:r>
              <a:t>Technical Feasibility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3200" b="1">
                <a:solidFill>
                  <a:srgbClr val="3B82F6"/>
                </a:solidFill>
                <a:latin typeface="Arial"/>
              </a:defRPr>
            </a:pPr>
            <a:r>
              <a:t>Tech Stack: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1188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 b="0">
                <a:solidFill>
                  <a:srgbClr val="FAFAFA"/>
                </a:solidFill>
                <a:latin typeface="Arial"/>
              </a:defRPr>
            </a:pPr>
            <a:r>
              <a:t>Next.js 15, Tailwind CSS V4, Socket.IO, @google/genai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3200" b="1">
                <a:solidFill>
                  <a:srgbClr val="3B82F6"/>
                </a:solidFill>
                <a:latin typeface="Arial"/>
              </a:defRPr>
            </a:pPr>
            <a:r>
              <a:t>Dual-Mode Flexibility: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1188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 b="0">
                <a:solidFill>
                  <a:srgbClr val="FAFAFA"/>
                </a:solidFill>
                <a:latin typeface="Arial"/>
              </a:defRPr>
            </a:pPr>
            <a:r>
              <a:t>Local: Custom Node.js server handles WebSockets.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94960"/>
            <a:ext cx="1188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 b="0">
                <a:solidFill>
                  <a:srgbClr val="A0A5B4"/>
                </a:solidFill>
                <a:latin typeface="Arial"/>
              </a:defRPr>
            </a:pPr>
            <a:r>
              <a:t>Vercel: Falls back to Next.js serverless API routes for production stability.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58368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3200" b="1">
                <a:solidFill>
                  <a:srgbClr val="3B82F6"/>
                </a:solidFill>
                <a:latin typeface="Arial"/>
              </a:defRPr>
            </a:pPr>
            <a:r>
              <a:t>Cascading AI Fallback: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7223760"/>
            <a:ext cx="1188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 b="0">
                <a:solidFill>
                  <a:srgbClr val="FAFAFA"/>
                </a:solidFill>
                <a:latin typeface="Arial"/>
              </a:defRPr>
            </a:pPr>
            <a:r>
              <a:t>Automatically shifts from gemini-3-flash -&gt; gemini-2.5-pro -&gt; flash if rate limits are hit.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w_key_dark_bg_17722269254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576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8000" b="1">
                <a:solidFill>
                  <a:srgbClr val="22D3EE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 b="0">
                <a:solidFill>
                  <a:srgbClr val="A0A5B4"/>
                </a:solidFill>
                <a:latin typeface="Arial"/>
              </a:defRPr>
            </a:pPr>
            <a:r>
              <a:t>Ready for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